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60" r:id="rId3"/>
    <p:sldId id="263" r:id="rId4"/>
    <p:sldId id="264" r:id="rId5"/>
    <p:sldId id="265" r:id="rId6"/>
    <p:sldId id="268" r:id="rId7"/>
    <p:sldId id="269" r:id="rId8"/>
    <p:sldId id="266" r:id="rId9"/>
    <p:sldId id="267" r:id="rId10"/>
    <p:sldId id="270" r:id="rId11"/>
    <p:sldId id="271" r:id="rId12"/>
    <p:sldId id="272" r:id="rId13"/>
    <p:sldId id="273" r:id="rId14"/>
    <p:sldId id="274"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F9E236-D680-47FB-B948-84302D246D54}" v="32" dt="2026-02-28T06:28:51.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duvijay95@outlook.com" userId="1d88fd55b1828d27" providerId="LiveId" clId="{7CA72904-2186-4311-ABD1-8012E42F4597}"/>
    <pc:docChg chg="undo custSel addSld delSld modSld sldOrd">
      <pc:chgData name="chiduvijay95@outlook.com" userId="1d88fd55b1828d27" providerId="LiveId" clId="{7CA72904-2186-4311-ABD1-8012E42F4597}" dt="2026-03-06T06:18:14.342" v="1122"/>
      <pc:docMkLst>
        <pc:docMk/>
      </pc:docMkLst>
      <pc:sldChg chg="modSp mod">
        <pc:chgData name="chiduvijay95@outlook.com" userId="1d88fd55b1828d27" providerId="LiveId" clId="{7CA72904-2186-4311-ABD1-8012E42F4597}" dt="2026-02-28T06:18:49.792" v="951" actId="27636"/>
        <pc:sldMkLst>
          <pc:docMk/>
          <pc:sldMk cId="2157380539" sldId="256"/>
        </pc:sldMkLst>
        <pc:spChg chg="mod">
          <ac:chgData name="chiduvijay95@outlook.com" userId="1d88fd55b1828d27" providerId="LiveId" clId="{7CA72904-2186-4311-ABD1-8012E42F4597}" dt="2026-02-28T06:18:44.957" v="949" actId="20577"/>
          <ac:spMkLst>
            <pc:docMk/>
            <pc:sldMk cId="2157380539" sldId="256"/>
            <ac:spMk id="2" creationId="{7EF60190-049E-C648-4647-CB7C806458DF}"/>
          </ac:spMkLst>
        </pc:spChg>
        <pc:spChg chg="mod">
          <ac:chgData name="chiduvijay95@outlook.com" userId="1d88fd55b1828d27" providerId="LiveId" clId="{7CA72904-2186-4311-ABD1-8012E42F4597}" dt="2026-02-28T06:18:49.792" v="951" actId="27636"/>
          <ac:spMkLst>
            <pc:docMk/>
            <pc:sldMk cId="2157380539" sldId="256"/>
            <ac:spMk id="3" creationId="{F2D7F7B4-B425-D592-8D81-7CB013877202}"/>
          </ac:spMkLst>
        </pc:spChg>
      </pc:sldChg>
      <pc:sldChg chg="modSp mod">
        <pc:chgData name="chiduvijay95@outlook.com" userId="1d88fd55b1828d27" providerId="LiveId" clId="{7CA72904-2186-4311-ABD1-8012E42F4597}" dt="2026-03-06T03:59:39.839" v="1116" actId="20577"/>
        <pc:sldMkLst>
          <pc:docMk/>
          <pc:sldMk cId="2077479861" sldId="260"/>
        </pc:sldMkLst>
        <pc:spChg chg="mod">
          <ac:chgData name="chiduvijay95@outlook.com" userId="1d88fd55b1828d27" providerId="LiveId" clId="{7CA72904-2186-4311-ABD1-8012E42F4597}" dt="2026-03-06T03:59:39.839" v="1116" actId="20577"/>
          <ac:spMkLst>
            <pc:docMk/>
            <pc:sldMk cId="2077479861" sldId="260"/>
            <ac:spMk id="3" creationId="{24EB0867-B245-6A30-6F56-0361EA0B239C}"/>
          </ac:spMkLst>
        </pc:spChg>
      </pc:sldChg>
      <pc:sldChg chg="addSp delSp modSp mod">
        <pc:chgData name="chiduvijay95@outlook.com" userId="1d88fd55b1828d27" providerId="LiveId" clId="{7CA72904-2186-4311-ABD1-8012E42F4597}" dt="2026-02-28T06:24:59.073" v="961" actId="1076"/>
        <pc:sldMkLst>
          <pc:docMk/>
          <pc:sldMk cId="3129129798" sldId="264"/>
        </pc:sldMkLst>
        <pc:spChg chg="mod">
          <ac:chgData name="chiduvijay95@outlook.com" userId="1d88fd55b1828d27" providerId="LiveId" clId="{7CA72904-2186-4311-ABD1-8012E42F4597}" dt="2026-02-28T06:24:49.239" v="960" actId="688"/>
          <ac:spMkLst>
            <pc:docMk/>
            <pc:sldMk cId="3129129798" sldId="264"/>
            <ac:spMk id="2" creationId="{D3E78617-69D5-8EBC-AFC4-DFBD96A8F0F3}"/>
          </ac:spMkLst>
        </pc:spChg>
        <pc:picChg chg="add mod ord">
          <ac:chgData name="chiduvijay95@outlook.com" userId="1d88fd55b1828d27" providerId="LiveId" clId="{7CA72904-2186-4311-ABD1-8012E42F4597}" dt="2026-02-28T06:24:59.073" v="961" actId="1076"/>
          <ac:picMkLst>
            <pc:docMk/>
            <pc:sldMk cId="3129129798" sldId="264"/>
            <ac:picMk id="7" creationId="{0C288ED5-AF49-AC8E-A1A9-F9D68B5E7395}"/>
          </ac:picMkLst>
        </pc:picChg>
      </pc:sldChg>
      <pc:sldChg chg="addSp modSp mod">
        <pc:chgData name="chiduvijay95@outlook.com" userId="1d88fd55b1828d27" providerId="LiveId" clId="{7CA72904-2186-4311-ABD1-8012E42F4597}" dt="2026-02-28T05:59:00.946" v="372" actId="20577"/>
        <pc:sldMkLst>
          <pc:docMk/>
          <pc:sldMk cId="1937563263" sldId="265"/>
        </pc:sldMkLst>
        <pc:spChg chg="mod">
          <ac:chgData name="chiduvijay95@outlook.com" userId="1d88fd55b1828d27" providerId="LiveId" clId="{7CA72904-2186-4311-ABD1-8012E42F4597}" dt="2026-02-28T05:59:00.946" v="372" actId="20577"/>
          <ac:spMkLst>
            <pc:docMk/>
            <pc:sldMk cId="1937563263" sldId="265"/>
            <ac:spMk id="3" creationId="{8AF8C54A-9984-66BE-57ED-68EBCC163A39}"/>
          </ac:spMkLst>
        </pc:spChg>
      </pc:sldChg>
      <pc:sldChg chg="addSp delSp modSp mod">
        <pc:chgData name="chiduvijay95@outlook.com" userId="1d88fd55b1828d27" providerId="LiveId" clId="{7CA72904-2186-4311-ABD1-8012E42F4597}" dt="2026-03-06T03:55:15.095" v="982" actId="14100"/>
        <pc:sldMkLst>
          <pc:docMk/>
          <pc:sldMk cId="3265296064" sldId="266"/>
        </pc:sldMkLst>
        <pc:spChg chg="add del mod">
          <ac:chgData name="chiduvijay95@outlook.com" userId="1d88fd55b1828d27" providerId="LiveId" clId="{7CA72904-2186-4311-ABD1-8012E42F4597}" dt="2026-03-06T03:54:56.260" v="978" actId="931"/>
          <ac:spMkLst>
            <pc:docMk/>
            <pc:sldMk cId="3265296064" sldId="266"/>
            <ac:spMk id="4" creationId="{9BF174AD-1811-5720-74BB-AAB36A3E5332}"/>
          </ac:spMkLst>
        </pc:spChg>
        <pc:picChg chg="add mod ord">
          <ac:chgData name="chiduvijay95@outlook.com" userId="1d88fd55b1828d27" providerId="LiveId" clId="{7CA72904-2186-4311-ABD1-8012E42F4597}" dt="2026-03-06T03:55:15.095" v="982" actId="14100"/>
          <ac:picMkLst>
            <pc:docMk/>
            <pc:sldMk cId="3265296064" sldId="266"/>
            <ac:picMk id="5" creationId="{EA12E2B2-14DF-2065-0777-F57859D31210}"/>
          </ac:picMkLst>
        </pc:picChg>
      </pc:sldChg>
      <pc:sldChg chg="modSp mod">
        <pc:chgData name="chiduvijay95@outlook.com" userId="1d88fd55b1828d27" providerId="LiveId" clId="{7CA72904-2186-4311-ABD1-8012E42F4597}" dt="2026-02-28T06:17:25.136" v="911" actId="255"/>
        <pc:sldMkLst>
          <pc:docMk/>
          <pc:sldMk cId="1794940787" sldId="267"/>
        </pc:sldMkLst>
        <pc:spChg chg="mod">
          <ac:chgData name="chiduvijay95@outlook.com" userId="1d88fd55b1828d27" providerId="LiveId" clId="{7CA72904-2186-4311-ABD1-8012E42F4597}" dt="2026-02-28T06:17:25.136" v="911" actId="255"/>
          <ac:spMkLst>
            <pc:docMk/>
            <pc:sldMk cId="1794940787" sldId="267"/>
            <ac:spMk id="3" creationId="{487A0856-46F2-68D3-4FA0-F15EF2857146}"/>
          </ac:spMkLst>
        </pc:spChg>
      </pc:sldChg>
      <pc:sldChg chg="addSp delSp modSp mod ord">
        <pc:chgData name="chiduvijay95@outlook.com" userId="1d88fd55b1828d27" providerId="LiveId" clId="{7CA72904-2186-4311-ABD1-8012E42F4597}" dt="2026-03-06T06:18:09.100" v="1120"/>
        <pc:sldMkLst>
          <pc:docMk/>
          <pc:sldMk cId="1757096941" sldId="268"/>
        </pc:sldMkLst>
        <pc:spChg chg="add del mod">
          <ac:chgData name="chiduvijay95@outlook.com" userId="1d88fd55b1828d27" providerId="LiveId" clId="{7CA72904-2186-4311-ABD1-8012E42F4597}" dt="2026-03-06T03:55:37.239" v="983" actId="931"/>
          <ac:spMkLst>
            <pc:docMk/>
            <pc:sldMk cId="1757096941" sldId="268"/>
            <ac:spMk id="4" creationId="{2AC83F5E-09F7-5C76-CBA7-D5753F8ABB55}"/>
          </ac:spMkLst>
        </pc:spChg>
        <pc:picChg chg="add mod ord">
          <ac:chgData name="chiduvijay95@outlook.com" userId="1d88fd55b1828d27" providerId="LiveId" clId="{7CA72904-2186-4311-ABD1-8012E42F4597}" dt="2026-03-06T03:55:50.214" v="987" actId="14100"/>
          <ac:picMkLst>
            <pc:docMk/>
            <pc:sldMk cId="1757096941" sldId="268"/>
            <ac:picMk id="5" creationId="{F4527051-1932-C079-3B0B-460DAE7DEE88}"/>
          </ac:picMkLst>
        </pc:picChg>
      </pc:sldChg>
      <pc:sldChg chg="ord">
        <pc:chgData name="chiduvijay95@outlook.com" userId="1d88fd55b1828d27" providerId="LiveId" clId="{7CA72904-2186-4311-ABD1-8012E42F4597}" dt="2026-03-06T06:18:14.342" v="1122"/>
        <pc:sldMkLst>
          <pc:docMk/>
          <pc:sldMk cId="159274892" sldId="269"/>
        </pc:sldMkLst>
      </pc:sldChg>
      <pc:sldChg chg="modSp mod">
        <pc:chgData name="chiduvijay95@outlook.com" userId="1d88fd55b1828d27" providerId="LiveId" clId="{7CA72904-2186-4311-ABD1-8012E42F4597}" dt="2026-02-28T06:29:05.336" v="964" actId="2711"/>
        <pc:sldMkLst>
          <pc:docMk/>
          <pc:sldMk cId="181451988" sldId="270"/>
        </pc:sldMkLst>
        <pc:spChg chg="mod">
          <ac:chgData name="chiduvijay95@outlook.com" userId="1d88fd55b1828d27" providerId="LiveId" clId="{7CA72904-2186-4311-ABD1-8012E42F4597}" dt="2026-02-28T06:29:05.336" v="964" actId="2711"/>
          <ac:spMkLst>
            <pc:docMk/>
            <pc:sldMk cId="181451988" sldId="270"/>
            <ac:spMk id="3" creationId="{519F350A-CCB9-B9EA-1C91-0007842F5F1B}"/>
          </ac:spMkLst>
        </pc:spChg>
      </pc:sldChg>
      <pc:sldChg chg="addSp modSp mod">
        <pc:chgData name="chiduvijay95@outlook.com" userId="1d88fd55b1828d27" providerId="LiveId" clId="{7CA72904-2186-4311-ABD1-8012E42F4597}" dt="2026-02-28T06:32:53.770" v="968" actId="14100"/>
        <pc:sldMkLst>
          <pc:docMk/>
          <pc:sldMk cId="623129298" sldId="271"/>
        </pc:sldMkLst>
        <pc:spChg chg="mod">
          <ac:chgData name="chiduvijay95@outlook.com" userId="1d88fd55b1828d27" providerId="LiveId" clId="{7CA72904-2186-4311-ABD1-8012E42F4597}" dt="2026-02-28T06:11:00.321" v="856" actId="20577"/>
          <ac:spMkLst>
            <pc:docMk/>
            <pc:sldMk cId="623129298" sldId="271"/>
            <ac:spMk id="3" creationId="{642F4302-0205-1C44-EE4E-1A35731729A6}"/>
          </ac:spMkLst>
        </pc:spChg>
        <pc:picChg chg="add mod">
          <ac:chgData name="chiduvijay95@outlook.com" userId="1d88fd55b1828d27" providerId="LiveId" clId="{7CA72904-2186-4311-ABD1-8012E42F4597}" dt="2026-02-28T06:32:53.770" v="968" actId="14100"/>
          <ac:picMkLst>
            <pc:docMk/>
            <pc:sldMk cId="623129298" sldId="271"/>
            <ac:picMk id="4" creationId="{3391A224-7CF7-7C5E-22DA-7C4B9B43AF23}"/>
          </ac:picMkLst>
        </pc:picChg>
      </pc:sldChg>
      <pc:sldChg chg="addSp delSp modSp mod">
        <pc:chgData name="chiduvijay95@outlook.com" userId="1d88fd55b1828d27" providerId="LiveId" clId="{7CA72904-2186-4311-ABD1-8012E42F4597}" dt="2026-02-28T06:33:07" v="972" actId="14100"/>
        <pc:sldMkLst>
          <pc:docMk/>
          <pc:sldMk cId="3484599288" sldId="272"/>
        </pc:sldMkLst>
        <pc:picChg chg="add mod ord">
          <ac:chgData name="chiduvijay95@outlook.com" userId="1d88fd55b1828d27" providerId="LiveId" clId="{7CA72904-2186-4311-ABD1-8012E42F4597}" dt="2026-02-28T06:33:07" v="972" actId="14100"/>
          <ac:picMkLst>
            <pc:docMk/>
            <pc:sldMk cId="3484599288" sldId="272"/>
            <ac:picMk id="4" creationId="{4DBFF066-93D8-11F9-9812-B009037824DE}"/>
          </ac:picMkLst>
        </pc:picChg>
      </pc:sldChg>
      <pc:sldChg chg="addSp delSp modSp mod">
        <pc:chgData name="chiduvijay95@outlook.com" userId="1d88fd55b1828d27" providerId="LiveId" clId="{7CA72904-2186-4311-ABD1-8012E42F4597}" dt="2026-02-28T06:34:42.815" v="975" actId="14100"/>
        <pc:sldMkLst>
          <pc:docMk/>
          <pc:sldMk cId="1043823728" sldId="273"/>
        </pc:sldMkLst>
        <pc:picChg chg="add mod ord">
          <ac:chgData name="chiduvijay95@outlook.com" userId="1d88fd55b1828d27" providerId="LiveId" clId="{7CA72904-2186-4311-ABD1-8012E42F4597}" dt="2026-02-28T06:34:42.815" v="975" actId="14100"/>
          <ac:picMkLst>
            <pc:docMk/>
            <pc:sldMk cId="1043823728" sldId="273"/>
            <ac:picMk id="4" creationId="{E3975E05-8179-005E-041C-21BD1BA0D658}"/>
          </ac:picMkLst>
        </pc:picChg>
      </pc:sldChg>
      <pc:sldChg chg="modSp mod">
        <pc:chgData name="chiduvijay95@outlook.com" userId="1d88fd55b1828d27" providerId="LiveId" clId="{7CA72904-2186-4311-ABD1-8012E42F4597}" dt="2026-03-06T04:02:55.582" v="1118" actId="20577"/>
        <pc:sldMkLst>
          <pc:docMk/>
          <pc:sldMk cId="1950218355" sldId="274"/>
        </pc:sldMkLst>
        <pc:spChg chg="mod">
          <ac:chgData name="chiduvijay95@outlook.com" userId="1d88fd55b1828d27" providerId="LiveId" clId="{7CA72904-2186-4311-ABD1-8012E42F4597}" dt="2026-03-06T04:02:55.582" v="1118" actId="20577"/>
          <ac:spMkLst>
            <pc:docMk/>
            <pc:sldMk cId="1950218355" sldId="274"/>
            <ac:spMk id="3" creationId="{0172C9A9-6E16-F8C0-EA79-42F6DAA0B65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121649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2351886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239379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489686-13E0-42BF-9188-E789703F1C68}" type="datetimeFigureOut">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2536585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489686-13E0-42BF-9188-E789703F1C68}" type="datetimeFigureOut">
              <a:rPr lang="en-IN" smtClean="0"/>
              <a:t>06-03-2026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305242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489686-13E0-42BF-9188-E789703F1C68}" type="datetimeFigureOut">
              <a:rPr lang="en-IN" smtClean="0"/>
              <a:t>06-03-2026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357269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489686-13E0-42BF-9188-E789703F1C68}" type="datetimeFigureOut">
              <a:rPr lang="en-IN" smtClean="0"/>
              <a:t>06-03-2026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2286022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489686-13E0-42BF-9188-E789703F1C68}" type="datetimeFigureOut">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3952583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69F507-2193-42C2-9D7B-197A21C24DFF}" type="slidenum">
              <a:rPr lang="en-IN" smtClean="0"/>
              <a:t>‹#›</a:t>
            </a:fld>
            <a:endParaRPr lang="en-IN"/>
          </a:p>
        </p:txBody>
      </p:sp>
      <p:sp>
        <p:nvSpPr>
          <p:cNvPr id="5" name="Date Placeholder 4"/>
          <p:cNvSpPr>
            <a:spLocks noGrp="1"/>
          </p:cNvSpPr>
          <p:nvPr>
            <p:ph type="dt" sz="half" idx="10"/>
          </p:nvPr>
        </p:nvSpPr>
        <p:spPr/>
        <p:txBody>
          <a:bodyPr/>
          <a:lstStyle/>
          <a:p>
            <a:fld id="{44489686-13E0-42BF-9188-E789703F1C68}" type="datetimeFigureOut">
              <a:rPr lang="en-IN" smtClean="0"/>
              <a:t>06-03-2026</a:t>
            </a:fld>
            <a:endParaRPr lang="en-IN"/>
          </a:p>
        </p:txBody>
      </p:sp>
    </p:spTree>
    <p:extLst>
      <p:ext uri="{BB962C8B-B14F-4D97-AF65-F5344CB8AC3E}">
        <p14:creationId xmlns:p14="http://schemas.microsoft.com/office/powerpoint/2010/main" val="92812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645382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92843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2788201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71077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3784673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960279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489686-13E0-42BF-9188-E789703F1C68}"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69F507-2193-42C2-9D7B-197A21C24DFF}" type="slidenum">
              <a:rPr lang="en-IN" smtClean="0"/>
              <a:t>‹#›</a:t>
            </a:fld>
            <a:endParaRPr lang="en-IN"/>
          </a:p>
        </p:txBody>
      </p:sp>
    </p:spTree>
    <p:extLst>
      <p:ext uri="{BB962C8B-B14F-4D97-AF65-F5344CB8AC3E}">
        <p14:creationId xmlns:p14="http://schemas.microsoft.com/office/powerpoint/2010/main" val="1260716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489686-13E0-42BF-9188-E789703F1C68}" type="datetimeFigureOut">
              <a:rPr lang="en-IN" smtClean="0"/>
              <a:t>06-03-2026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769F507-2193-42C2-9D7B-197A21C24DFF}" type="slidenum">
              <a:rPr lang="en-IN" smtClean="0"/>
              <a:t>‹#›</a:t>
            </a:fld>
            <a:endParaRPr lang="en-IN"/>
          </a:p>
        </p:txBody>
      </p:sp>
    </p:spTree>
    <p:extLst>
      <p:ext uri="{BB962C8B-B14F-4D97-AF65-F5344CB8AC3E}">
        <p14:creationId xmlns:p14="http://schemas.microsoft.com/office/powerpoint/2010/main" val="19646436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0190-049E-C648-4647-CB7C806458DF}"/>
              </a:ext>
            </a:extLst>
          </p:cNvPr>
          <p:cNvSpPr>
            <a:spLocks noGrp="1"/>
          </p:cNvSpPr>
          <p:nvPr>
            <p:ph type="ctrTitle"/>
          </p:nvPr>
        </p:nvSpPr>
        <p:spPr>
          <a:xfrm>
            <a:off x="1507067" y="1238866"/>
            <a:ext cx="7766936" cy="1877960"/>
          </a:xfrm>
        </p:spPr>
        <p:txBody>
          <a:bodyPr/>
          <a:lstStyle/>
          <a:p>
            <a:pPr algn="ctr"/>
            <a:r>
              <a:rPr lang="en-IN" sz="4400" b="1" dirty="0">
                <a:solidFill>
                  <a:schemeClr val="tx1"/>
                </a:solidFill>
                <a:latin typeface="Times New Roman" panose="02020603050405020304" pitchFamily="18" charset="0"/>
                <a:cs typeface="Times New Roman" panose="02020603050405020304" pitchFamily="18" charset="0"/>
              </a:rPr>
              <a:t>HOSPITALITY ANALYSIS PRESENTATION</a:t>
            </a:r>
            <a:br>
              <a:rPr lang="en-IN" sz="4400" b="1" dirty="0">
                <a:solidFill>
                  <a:schemeClr val="tx1"/>
                </a:solidFill>
                <a:latin typeface="Times New Roman" panose="02020603050405020304" pitchFamily="18" charset="0"/>
                <a:cs typeface="Times New Roman" panose="02020603050405020304" pitchFamily="18" charset="0"/>
              </a:rPr>
            </a:br>
            <a:r>
              <a:rPr lang="en-IN" sz="1800" b="1" dirty="0">
                <a:solidFill>
                  <a:schemeClr val="accent5"/>
                </a:solidFill>
                <a:latin typeface="Times New Roman" panose="02020603050405020304" pitchFamily="18" charset="0"/>
                <a:cs typeface="Times New Roman" panose="02020603050405020304" pitchFamily="18" charset="0"/>
              </a:rPr>
              <a:t>Tools:</a:t>
            </a:r>
            <a:r>
              <a:rPr lang="en-IN" sz="1800" b="1" dirty="0">
                <a:solidFill>
                  <a:schemeClr val="tx1"/>
                </a:solidFill>
                <a:latin typeface="Times New Roman" panose="02020603050405020304" pitchFamily="18" charset="0"/>
                <a:cs typeface="Times New Roman" panose="02020603050405020304" pitchFamily="18" charset="0"/>
              </a:rPr>
              <a:t> </a:t>
            </a:r>
            <a:r>
              <a:rPr lang="en-IN" sz="1800" b="1" dirty="0">
                <a:solidFill>
                  <a:srgbClr val="002060"/>
                </a:solidFill>
                <a:latin typeface="Times New Roman" panose="02020603050405020304" pitchFamily="18" charset="0"/>
                <a:cs typeface="Times New Roman" panose="02020603050405020304" pitchFamily="18" charset="0"/>
              </a:rPr>
              <a:t>Excel, </a:t>
            </a:r>
            <a:r>
              <a:rPr lang="en-IN" sz="1800" b="1" dirty="0">
                <a:solidFill>
                  <a:schemeClr val="accent5">
                    <a:lumMod val="75000"/>
                  </a:schemeClr>
                </a:solidFill>
                <a:latin typeface="Times New Roman" panose="02020603050405020304" pitchFamily="18" charset="0"/>
                <a:cs typeface="Times New Roman" panose="02020603050405020304" pitchFamily="18" charset="0"/>
              </a:rPr>
              <a:t>Power Bi,</a:t>
            </a:r>
            <a:r>
              <a:rPr lang="en-IN" sz="1800" b="1" dirty="0">
                <a:solidFill>
                  <a:schemeClr val="tx1"/>
                </a:solidFill>
                <a:latin typeface="Times New Roman" panose="02020603050405020304" pitchFamily="18" charset="0"/>
                <a:cs typeface="Times New Roman" panose="02020603050405020304" pitchFamily="18" charset="0"/>
              </a:rPr>
              <a:t> </a:t>
            </a:r>
            <a:r>
              <a:rPr lang="en-IN" sz="1800" b="1" dirty="0">
                <a:solidFill>
                  <a:schemeClr val="tx2">
                    <a:lumMod val="75000"/>
                  </a:schemeClr>
                </a:solidFill>
                <a:latin typeface="Times New Roman" panose="02020603050405020304" pitchFamily="18" charset="0"/>
                <a:cs typeface="Times New Roman" panose="02020603050405020304" pitchFamily="18" charset="0"/>
              </a:rPr>
              <a:t>Tableau, </a:t>
            </a:r>
            <a:r>
              <a:rPr lang="en-IN" sz="1800" b="1" dirty="0">
                <a:solidFill>
                  <a:srgbClr val="0070C0"/>
                </a:solidFill>
                <a:latin typeface="Times New Roman" panose="02020603050405020304" pitchFamily="18" charset="0"/>
                <a:cs typeface="Times New Roman" panose="02020603050405020304" pitchFamily="18" charset="0"/>
              </a:rPr>
              <a:t>SQL</a:t>
            </a:r>
          </a:p>
        </p:txBody>
      </p:sp>
      <p:sp>
        <p:nvSpPr>
          <p:cNvPr id="3" name="Subtitle 2">
            <a:extLst>
              <a:ext uri="{FF2B5EF4-FFF2-40B4-BE49-F238E27FC236}">
                <a16:creationId xmlns:a16="http://schemas.microsoft.com/office/drawing/2014/main" id="{F2D7F7B4-B425-D592-8D81-7CB013877202}"/>
              </a:ext>
            </a:extLst>
          </p:cNvPr>
          <p:cNvSpPr>
            <a:spLocks noGrp="1"/>
          </p:cNvSpPr>
          <p:nvPr>
            <p:ph type="subTitle" idx="1"/>
          </p:nvPr>
        </p:nvSpPr>
        <p:spPr>
          <a:xfrm>
            <a:off x="7543800" y="4123944"/>
            <a:ext cx="1730203" cy="2414016"/>
          </a:xfrm>
        </p:spPr>
        <p:txBody>
          <a:bodyPr>
            <a:normAutofit/>
          </a:bodyPr>
          <a:lstStyle/>
          <a:p>
            <a:pPr algn="l"/>
            <a:endParaRPr lang="en-IN" sz="2200" b="1" dirty="0">
              <a:solidFill>
                <a:schemeClr val="tx1"/>
              </a:solidFill>
              <a:latin typeface="Times New Roman" panose="02020603050405020304" pitchFamily="18" charset="0"/>
              <a:cs typeface="Times New Roman" panose="02020603050405020304" pitchFamily="18" charset="0"/>
            </a:endParaRPr>
          </a:p>
          <a:p>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7380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4429-AE8D-C8C6-DB68-B59170FB7572}"/>
              </a:ext>
            </a:extLst>
          </p:cNvPr>
          <p:cNvSpPr>
            <a:spLocks noGrp="1"/>
          </p:cNvSpPr>
          <p:nvPr>
            <p:ph type="title"/>
          </p:nvPr>
        </p:nvSpPr>
        <p:spPr>
          <a:xfrm>
            <a:off x="677334" y="609601"/>
            <a:ext cx="8596668" cy="747252"/>
          </a:xfrm>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24EB0867-B245-6A30-6F56-0361EA0B239C}"/>
              </a:ext>
            </a:extLst>
          </p:cNvPr>
          <p:cNvSpPr>
            <a:spLocks noGrp="1"/>
          </p:cNvSpPr>
          <p:nvPr>
            <p:ph idx="1"/>
          </p:nvPr>
        </p:nvSpPr>
        <p:spPr>
          <a:xfrm>
            <a:off x="677334" y="1661653"/>
            <a:ext cx="8596668" cy="4379710"/>
          </a:xfrm>
        </p:spPr>
        <p:txBody>
          <a:bodyPr>
            <a:noAutofit/>
          </a:bodyPr>
          <a:lstStyle/>
          <a:p>
            <a:pPr algn="just"/>
            <a:r>
              <a:rPr lang="en-US" sz="2400" dirty="0">
                <a:latin typeface="Times New Roman" panose="02020603050405020304" pitchFamily="18" charset="0"/>
                <a:cs typeface="Times New Roman" panose="02020603050405020304" pitchFamily="18" charset="0"/>
              </a:rPr>
              <a:t>This project analyzes the Hospitality Analysis dataset to evaluate revenue performance, customer behavior, Booking patterns and occupancy rates. The objective is to convert raw business data into meaningful insights using data analysis and visualization techniques</a:t>
            </a:r>
            <a:r>
              <a:rPr lang="en-US" sz="2400" dirty="0"/>
              <a:t>.</a:t>
            </a:r>
            <a:endParaRPr lang="en-IN" sz="2400" dirty="0">
              <a:solidFill>
                <a:schemeClr val="tx1"/>
              </a:solidFill>
              <a:latin typeface="Times New Roman" panose="02020603050405020304" pitchFamily="18" charset="0"/>
              <a:cs typeface="Times New Roman" panose="02020603050405020304" pitchFamily="18" charset="0"/>
            </a:endParaRPr>
          </a:p>
          <a:p>
            <a:pPr algn="just"/>
            <a:r>
              <a:rPr lang="en-IN" sz="2400" dirty="0">
                <a:solidFill>
                  <a:schemeClr val="tx1"/>
                </a:solidFill>
                <a:latin typeface="Times New Roman" panose="02020603050405020304" pitchFamily="18" charset="0"/>
                <a:cs typeface="Times New Roman" panose="02020603050405020304" pitchFamily="18" charset="0"/>
              </a:rPr>
              <a:t>Using tools like </a:t>
            </a:r>
            <a:r>
              <a:rPr lang="en-IN" sz="2400" b="1" dirty="0">
                <a:solidFill>
                  <a:schemeClr val="tx1"/>
                </a:solidFill>
                <a:latin typeface="Times New Roman" panose="02020603050405020304" pitchFamily="18" charset="0"/>
                <a:cs typeface="Times New Roman" panose="02020603050405020304" pitchFamily="18" charset="0"/>
              </a:rPr>
              <a:t>EXCEL, SQL, POWER BI, and TABLEAU, </a:t>
            </a:r>
            <a:r>
              <a:rPr lang="en-IN" sz="2400" dirty="0">
                <a:solidFill>
                  <a:schemeClr val="tx1"/>
                </a:solidFill>
                <a:latin typeface="Times New Roman" panose="02020603050405020304" pitchFamily="18" charset="0"/>
                <a:cs typeface="Times New Roman" panose="02020603050405020304" pitchFamily="18" charset="0"/>
              </a:rPr>
              <a:t>the data was cleaned, transformed, and visualized to create an interactive dashboard.</a:t>
            </a:r>
          </a:p>
          <a:p>
            <a:pPr algn="just"/>
            <a:r>
              <a:rPr lang="en-US" sz="2400" dirty="0">
                <a:latin typeface="Times New Roman" panose="02020603050405020304" pitchFamily="18" charset="0"/>
                <a:cs typeface="Times New Roman" panose="02020603050405020304" pitchFamily="18" charset="0"/>
              </a:rPr>
              <a:t>The insights generated from this analysis support data-driven decision making, help identify growth opportunities, and improve overall business performance through interactive reports and dashboards.</a:t>
            </a:r>
          </a:p>
          <a:p>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479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34F07-117C-6D46-6715-AAABB48AC9FA}"/>
              </a:ext>
            </a:extLst>
          </p:cNvPr>
          <p:cNvSpPr>
            <a:spLocks noGrp="1"/>
          </p:cNvSpPr>
          <p:nvPr>
            <p:ph type="title"/>
          </p:nvPr>
        </p:nvSpPr>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84EA39C6-6BB3-2BD2-3C48-F15B4AD64D8D}"/>
              </a:ext>
            </a:extLst>
          </p:cNvPr>
          <p:cNvSpPr>
            <a:spLocks noGrp="1"/>
          </p:cNvSpPr>
          <p:nvPr>
            <p:ph idx="1"/>
          </p:nvPr>
        </p:nvSpPr>
        <p:spPr>
          <a:xfrm>
            <a:off x="755992" y="1474839"/>
            <a:ext cx="8596668" cy="4517363"/>
          </a:xfrm>
        </p:spPr>
        <p:txBody>
          <a:bodyPr>
            <a:normAutofit fontScale="25000" lnSpcReduction="20000"/>
          </a:bodyPr>
          <a:lstStyle/>
          <a:p>
            <a:pPr marL="0" indent="0">
              <a:buNone/>
            </a:pPr>
            <a:r>
              <a:rPr lang="en-IN" sz="8800" b="1" dirty="0">
                <a:solidFill>
                  <a:schemeClr val="tx1"/>
                </a:solidFill>
                <a:latin typeface="Times New Roman" panose="02020603050405020304" pitchFamily="18" charset="0"/>
                <a:cs typeface="Times New Roman" panose="02020603050405020304" pitchFamily="18" charset="0"/>
              </a:rPr>
              <a:t>Data Preparation Process (Excel, SQL, Power BI, Tableau)</a:t>
            </a:r>
          </a:p>
          <a:p>
            <a:pPr marL="0" indent="0">
              <a:buNone/>
            </a:pPr>
            <a:r>
              <a:rPr lang="en-IN" sz="8800" b="1" dirty="0">
                <a:solidFill>
                  <a:schemeClr val="tx1"/>
                </a:solidFill>
                <a:latin typeface="Times New Roman" panose="02020603050405020304" pitchFamily="18" charset="0"/>
                <a:cs typeface="Times New Roman" panose="02020603050405020304" pitchFamily="18" charset="0"/>
              </a:rPr>
              <a:t>Excel:</a:t>
            </a:r>
            <a:r>
              <a:rPr lang="en-IN" sz="8800" dirty="0">
                <a:solidFill>
                  <a:schemeClr val="tx1"/>
                </a:solidFill>
                <a:latin typeface="Times New Roman" panose="02020603050405020304" pitchFamily="18" charset="0"/>
                <a:cs typeface="Times New Roman" panose="02020603050405020304" pitchFamily="18" charset="0"/>
              </a:rPr>
              <a:t> Removed duplicate rows and blank values</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Corrected data formats and standardized column names</a:t>
            </a:r>
          </a:p>
          <a:p>
            <a:pPr marL="0" indent="0">
              <a:buNone/>
            </a:pPr>
            <a:r>
              <a:rPr lang="en-IN" sz="8800" b="1" dirty="0">
                <a:solidFill>
                  <a:schemeClr val="tx1"/>
                </a:solidFill>
                <a:latin typeface="Times New Roman" panose="02020603050405020304" pitchFamily="18" charset="0"/>
                <a:cs typeface="Times New Roman" panose="02020603050405020304" pitchFamily="18" charset="0"/>
              </a:rPr>
              <a:t>Power BI: </a:t>
            </a:r>
            <a:r>
              <a:rPr lang="en-IN" sz="8800" dirty="0">
                <a:solidFill>
                  <a:schemeClr val="tx1"/>
                </a:solidFill>
                <a:latin typeface="Times New Roman" panose="02020603050405020304" pitchFamily="18" charset="0"/>
                <a:cs typeface="Times New Roman" panose="02020603050405020304" pitchFamily="18" charset="0"/>
              </a:rPr>
              <a:t>Connected to SQL database using Power Query</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Transformed data and created DAX measures</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Built interactive KPI cards and charts</a:t>
            </a:r>
          </a:p>
          <a:p>
            <a:pPr marL="0" indent="0">
              <a:buNone/>
            </a:pPr>
            <a:r>
              <a:rPr lang="en-IN" sz="8800" b="1" dirty="0">
                <a:solidFill>
                  <a:schemeClr val="tx1"/>
                </a:solidFill>
                <a:latin typeface="Times New Roman" panose="02020603050405020304" pitchFamily="18" charset="0"/>
                <a:cs typeface="Times New Roman" panose="02020603050405020304" pitchFamily="18" charset="0"/>
              </a:rPr>
              <a:t>Tableau:</a:t>
            </a:r>
            <a:r>
              <a:rPr lang="en-IN" sz="8800" dirty="0">
                <a:solidFill>
                  <a:schemeClr val="tx1"/>
                </a:solidFill>
                <a:latin typeface="Times New Roman" panose="02020603050405020304" pitchFamily="18" charset="0"/>
                <a:cs typeface="Times New Roman" panose="02020603050405020304" pitchFamily="18" charset="0"/>
              </a:rPr>
              <a:t> Connected directly to SQL database</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Created calculated fields and filters</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Designed visual dashboards for trend and performance analysis</a:t>
            </a:r>
          </a:p>
          <a:p>
            <a:pPr marL="0" indent="0">
              <a:buNone/>
            </a:pPr>
            <a:r>
              <a:rPr lang="en-IN" sz="8800" b="1" dirty="0">
                <a:solidFill>
                  <a:schemeClr val="tx1"/>
                </a:solidFill>
                <a:latin typeface="Times New Roman" panose="02020603050405020304" pitchFamily="18" charset="0"/>
                <a:cs typeface="Times New Roman" panose="02020603050405020304" pitchFamily="18" charset="0"/>
              </a:rPr>
              <a:t>SQL:</a:t>
            </a:r>
            <a:r>
              <a:rPr lang="en-IN" sz="8800" dirty="0">
                <a:solidFill>
                  <a:schemeClr val="tx1"/>
                </a:solidFill>
                <a:latin typeface="Times New Roman" panose="02020603050405020304" pitchFamily="18" charset="0"/>
                <a:cs typeface="Times New Roman" panose="02020603050405020304" pitchFamily="18" charset="0"/>
              </a:rPr>
              <a:t> Loaded cleaned Excel data into SQL tables</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Applied filters, joins, and aggregations using SQL queries</a:t>
            </a:r>
          </a:p>
          <a:p>
            <a:pPr marL="0" indent="0">
              <a:buNone/>
            </a:pPr>
            <a:r>
              <a:rPr lang="en-IN" sz="8800" dirty="0">
                <a:solidFill>
                  <a:schemeClr val="tx1"/>
                </a:solidFill>
                <a:latin typeface="Times New Roman" panose="02020603050405020304" pitchFamily="18" charset="0"/>
                <a:cs typeface="Times New Roman" panose="02020603050405020304" pitchFamily="18" charset="0"/>
              </a:rPr>
              <a:t>Created calculated fields for KPIs such as rejection rate and efficiency</a:t>
            </a:r>
          </a:p>
          <a:p>
            <a:pPr marL="0" indent="0">
              <a:buNone/>
            </a:pPr>
            <a:endParaRPr lang="en-IN" dirty="0"/>
          </a:p>
        </p:txBody>
      </p:sp>
    </p:spTree>
    <p:extLst>
      <p:ext uri="{BB962C8B-B14F-4D97-AF65-F5344CB8AC3E}">
        <p14:creationId xmlns:p14="http://schemas.microsoft.com/office/powerpoint/2010/main" val="3462606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8617-69D5-8EBC-AFC4-DFBD96A8F0F3}"/>
              </a:ext>
            </a:extLst>
          </p:cNvPr>
          <p:cNvSpPr>
            <a:spLocks noGrp="1"/>
          </p:cNvSpPr>
          <p:nvPr>
            <p:ph type="title"/>
          </p:nvPr>
        </p:nvSpPr>
        <p:spPr>
          <a:xfrm>
            <a:off x="677334" y="609600"/>
            <a:ext cx="8596668" cy="1320800"/>
          </a:xfrm>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EXCEL DASHBOARD</a:t>
            </a:r>
          </a:p>
        </p:txBody>
      </p:sp>
      <p:pic>
        <p:nvPicPr>
          <p:cNvPr id="7" name="Content Placeholder 6">
            <a:extLst>
              <a:ext uri="{FF2B5EF4-FFF2-40B4-BE49-F238E27FC236}">
                <a16:creationId xmlns:a16="http://schemas.microsoft.com/office/drawing/2014/main" id="{0C288ED5-AF49-AC8E-A1A9-F9D68B5E73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249" y="1101213"/>
            <a:ext cx="10324435" cy="5506065"/>
          </a:xfrm>
          <a:prstGeom prst="rect">
            <a:avLst/>
          </a:prstGeom>
        </p:spPr>
      </p:pic>
    </p:spTree>
    <p:extLst>
      <p:ext uri="{BB962C8B-B14F-4D97-AF65-F5344CB8AC3E}">
        <p14:creationId xmlns:p14="http://schemas.microsoft.com/office/powerpoint/2010/main" val="3129129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1AC1E-11DF-64AC-FF29-182ACBE1F6F6}"/>
              </a:ext>
            </a:extLst>
          </p:cNvPr>
          <p:cNvSpPr>
            <a:spLocks noGrp="1"/>
          </p:cNvSpPr>
          <p:nvPr>
            <p:ph type="title"/>
          </p:nvPr>
        </p:nvSpPr>
        <p:spPr>
          <a:xfrm>
            <a:off x="677334" y="609600"/>
            <a:ext cx="8596668" cy="953729"/>
          </a:xfrm>
        </p:spPr>
        <p:txBody>
          <a:bodyPr>
            <a:normAutofit/>
          </a:bodyPr>
          <a:lstStyle/>
          <a:p>
            <a:r>
              <a:rPr lang="en-IN" sz="2800" b="1" dirty="0">
                <a:solidFill>
                  <a:schemeClr val="tx1"/>
                </a:solidFill>
              </a:rPr>
              <a:t>OVERALL ANALYSIS OF EXCEL DASHBOARD</a:t>
            </a:r>
          </a:p>
        </p:txBody>
      </p:sp>
      <p:sp>
        <p:nvSpPr>
          <p:cNvPr id="3" name="Content Placeholder 2">
            <a:extLst>
              <a:ext uri="{FF2B5EF4-FFF2-40B4-BE49-F238E27FC236}">
                <a16:creationId xmlns:a16="http://schemas.microsoft.com/office/drawing/2014/main" id="{8AF8C54A-9984-66BE-57ED-68EBCC163A39}"/>
              </a:ext>
            </a:extLst>
          </p:cNvPr>
          <p:cNvSpPr>
            <a:spLocks noGrp="1"/>
          </p:cNvSpPr>
          <p:nvPr>
            <p:ph idx="1"/>
          </p:nvPr>
        </p:nvSpPr>
        <p:spPr>
          <a:xfrm>
            <a:off x="677334" y="1858297"/>
            <a:ext cx="8596668" cy="4183065"/>
          </a:xfrm>
        </p:spPr>
        <p:txBody>
          <a:bodyPr>
            <a:normAutofit/>
          </a:bodyPr>
          <a:lstStyle/>
          <a:p>
            <a:pPr marL="0" indent="0">
              <a:buNone/>
            </a:pPr>
            <a:r>
              <a:rPr lang="en-US" dirty="0"/>
              <a:t>The Excel analysis reveals clear patterns in occupancy, revenue, and customer behavior across the evaluated period.</a:t>
            </a:r>
          </a:p>
          <a:p>
            <a:pPr marL="0" indent="0">
              <a:buNone/>
            </a:pPr>
            <a:r>
              <a:rPr lang="en-US" dirty="0"/>
              <a:t>Customer satisfaction metrics show a strong link between service efficiency and repeat bookings.</a:t>
            </a:r>
          </a:p>
          <a:p>
            <a:pPr marL="0" indent="0">
              <a:buNone/>
            </a:pPr>
            <a:r>
              <a:rPr lang="en-US" dirty="0"/>
              <a:t>Data-driven decision making can significantly enhance operational efficiency and profitability.</a:t>
            </a:r>
          </a:p>
          <a:p>
            <a:pPr marL="0" indent="0">
              <a:buNone/>
            </a:pPr>
            <a:r>
              <a:rPr lang="en-US" b="1" dirty="0"/>
              <a:t>Overall Insight:</a:t>
            </a:r>
            <a:br>
              <a:rPr lang="en-US" dirty="0"/>
            </a:br>
            <a:r>
              <a:rPr lang="en-US" dirty="0"/>
              <a:t>Excel analytics enables hospitality businesses to identify trends, control costs, improve guest experience, and support strategic planning for sustainable growth.</a:t>
            </a:r>
          </a:p>
          <a:p>
            <a:pPr marL="0" indent="0">
              <a:buNone/>
            </a:pPr>
            <a:r>
              <a:rPr lang="en-US" dirty="0"/>
              <a:t>Peak performance is driven by seasonal demand, pricing strategy, and service quality indicators.</a:t>
            </a:r>
          </a:p>
        </p:txBody>
      </p:sp>
    </p:spTree>
    <p:extLst>
      <p:ext uri="{BB962C8B-B14F-4D97-AF65-F5344CB8AC3E}">
        <p14:creationId xmlns:p14="http://schemas.microsoft.com/office/powerpoint/2010/main" val="1937563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965E7-3618-5A77-923E-7456C76F370E}"/>
              </a:ext>
            </a:extLst>
          </p:cNvPr>
          <p:cNvSpPr>
            <a:spLocks noGrp="1"/>
          </p:cNvSpPr>
          <p:nvPr>
            <p:ph type="title"/>
          </p:nvPr>
        </p:nvSpPr>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TABLEAU DASHBOARD</a:t>
            </a:r>
          </a:p>
        </p:txBody>
      </p:sp>
      <p:pic>
        <p:nvPicPr>
          <p:cNvPr id="5" name="Content Placeholder 4">
            <a:extLst>
              <a:ext uri="{FF2B5EF4-FFF2-40B4-BE49-F238E27FC236}">
                <a16:creationId xmlns:a16="http://schemas.microsoft.com/office/drawing/2014/main" id="{F4527051-1932-C079-3B0B-460DAE7DEE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148" y="1111045"/>
            <a:ext cx="9606117" cy="5643715"/>
          </a:xfrm>
          <a:prstGeom prst="rect">
            <a:avLst/>
          </a:prstGeom>
        </p:spPr>
      </p:pic>
    </p:spTree>
    <p:extLst>
      <p:ext uri="{BB962C8B-B14F-4D97-AF65-F5344CB8AC3E}">
        <p14:creationId xmlns:p14="http://schemas.microsoft.com/office/powerpoint/2010/main" val="1757096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5FE9-E01C-5F5C-3A43-C2D2ED6672A4}"/>
              </a:ext>
            </a:extLst>
          </p:cNvPr>
          <p:cNvSpPr>
            <a:spLocks noGrp="1"/>
          </p:cNvSpPr>
          <p:nvPr>
            <p:ph type="title"/>
          </p:nvPr>
        </p:nvSpPr>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OVERALL ANALYSIS OF TABLEAU DASHBOARD</a:t>
            </a:r>
          </a:p>
        </p:txBody>
      </p:sp>
      <p:sp>
        <p:nvSpPr>
          <p:cNvPr id="3" name="Content Placeholder 2">
            <a:extLst>
              <a:ext uri="{FF2B5EF4-FFF2-40B4-BE49-F238E27FC236}">
                <a16:creationId xmlns:a16="http://schemas.microsoft.com/office/drawing/2014/main" id="{94066F83-694F-056C-47AC-E322234FDAA6}"/>
              </a:ext>
            </a:extLst>
          </p:cNvPr>
          <p:cNvSpPr>
            <a:spLocks noGrp="1"/>
          </p:cNvSpPr>
          <p:nvPr>
            <p:ph idx="1"/>
          </p:nvPr>
        </p:nvSpPr>
        <p:spPr>
          <a:xfrm>
            <a:off x="677334" y="1858297"/>
            <a:ext cx="8596668" cy="4183065"/>
          </a:xfrm>
        </p:spPr>
        <p:txBody>
          <a:bodyPr>
            <a:noAutofit/>
          </a:bodyPr>
          <a:lstStyle/>
          <a:p>
            <a:r>
              <a:rPr lang="en-IN" sz="2400" dirty="0">
                <a:latin typeface="Times New Roman" panose="02020603050405020304" pitchFamily="18" charset="0"/>
                <a:cs typeface="Times New Roman" panose="02020603050405020304" pitchFamily="18" charset="0"/>
              </a:rPr>
              <a:t>Tableau enables interactive and visual analysis of </a:t>
            </a:r>
            <a:r>
              <a:rPr lang="en-IN" sz="2400" b="1" dirty="0">
                <a:latin typeface="Times New Roman" panose="02020603050405020304" pitchFamily="18" charset="0"/>
                <a:cs typeface="Times New Roman" panose="02020603050405020304" pitchFamily="18" charset="0"/>
              </a:rPr>
              <a:t>Key Performance Indicators (KPIs)</a:t>
            </a:r>
            <a:r>
              <a:rPr lang="en-IN" sz="2400" dirty="0">
                <a:latin typeface="Times New Roman" panose="02020603050405020304" pitchFamily="18" charset="0"/>
                <a:cs typeface="Times New Roman" panose="02020603050405020304" pitchFamily="18" charset="0"/>
              </a:rPr>
              <a:t>, helping stakeholders quickly understand business performance and trends. KPI dashboards in Tableau combine multiple metrics into a single, intuitive view that supports data-driven decision-making.</a:t>
            </a:r>
          </a:p>
          <a:p>
            <a:r>
              <a:rPr lang="en-US" sz="2400" dirty="0">
                <a:latin typeface="Times New Roman" panose="02020603050405020304" pitchFamily="18" charset="0"/>
                <a:cs typeface="Times New Roman" panose="02020603050405020304" pitchFamily="18" charset="0"/>
              </a:rPr>
              <a:t>The Tableau KPI dashboard transforms raw data into actionable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insights by providing real-time visibility into business performance. Its interactive and visual approach enables organizations to monitor goals, identify risks, and optimize strategies effectively.</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274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0EC5-3968-4C4C-FBCA-2684321F5C81}"/>
              </a:ext>
            </a:extLst>
          </p:cNvPr>
          <p:cNvSpPr>
            <a:spLocks noGrp="1"/>
          </p:cNvSpPr>
          <p:nvPr>
            <p:ph type="title"/>
          </p:nvPr>
        </p:nvSpPr>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POWER BI DASHBOARD</a:t>
            </a:r>
          </a:p>
        </p:txBody>
      </p:sp>
      <p:pic>
        <p:nvPicPr>
          <p:cNvPr id="5" name="Content Placeholder 4">
            <a:extLst>
              <a:ext uri="{FF2B5EF4-FFF2-40B4-BE49-F238E27FC236}">
                <a16:creationId xmlns:a16="http://schemas.microsoft.com/office/drawing/2014/main" id="{EA12E2B2-14DF-2065-0777-F57859D312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968" y="1219200"/>
            <a:ext cx="9606116" cy="5378245"/>
          </a:xfrm>
          <a:prstGeom prst="rect">
            <a:avLst/>
          </a:prstGeom>
        </p:spPr>
      </p:pic>
    </p:spTree>
    <p:extLst>
      <p:ext uri="{BB962C8B-B14F-4D97-AF65-F5344CB8AC3E}">
        <p14:creationId xmlns:p14="http://schemas.microsoft.com/office/powerpoint/2010/main" val="3265296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DC49-AD33-084A-132A-10518B474FFD}"/>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OBVERALL ANALYSIS OF POWER BI DASHBOARD</a:t>
            </a:r>
          </a:p>
        </p:txBody>
      </p:sp>
      <p:sp>
        <p:nvSpPr>
          <p:cNvPr id="3" name="Content Placeholder 2">
            <a:extLst>
              <a:ext uri="{FF2B5EF4-FFF2-40B4-BE49-F238E27FC236}">
                <a16:creationId xmlns:a16="http://schemas.microsoft.com/office/drawing/2014/main" id="{487A0856-46F2-68D3-4FA0-F15EF2857146}"/>
              </a:ext>
            </a:extLst>
          </p:cNvPr>
          <p:cNvSpPr>
            <a:spLocks noGrp="1"/>
          </p:cNvSpPr>
          <p:nvPr>
            <p:ph idx="1"/>
          </p:nvPr>
        </p:nvSpPr>
        <p:spPr/>
        <p:txBody>
          <a:bodyPr>
            <a:normAutofit fontScale="25000" lnSpcReduction="20000"/>
          </a:bodyPr>
          <a:lstStyle/>
          <a:p>
            <a:pPr marL="0" indent="0">
              <a:buNone/>
            </a:pPr>
            <a:r>
              <a:rPr lang="en-US" sz="9600" dirty="0">
                <a:latin typeface="Times New Roman" panose="02020603050405020304" pitchFamily="18" charset="0"/>
                <a:cs typeface="Times New Roman" panose="02020603050405020304" pitchFamily="18" charset="0"/>
              </a:rPr>
              <a:t>The Power BI dashboard provides a unified, real-time view of hospitality performance across occupancy, revenue, and customer behavior. Revenue performance is strongly influenced by pricing strategy and room type mix. Customer insights show that service quality and booking channel significantly impact satisfaction and repeat visits.</a:t>
            </a:r>
          </a:p>
          <a:p>
            <a:pPr marL="0" indent="0">
              <a:buNone/>
            </a:pPr>
            <a:r>
              <a:rPr lang="en-US" sz="9600" dirty="0">
                <a:latin typeface="Times New Roman" panose="02020603050405020304" pitchFamily="18" charset="0"/>
                <a:cs typeface="Times New Roman" panose="02020603050405020304" pitchFamily="18" charset="0"/>
              </a:rPr>
              <a:t>Operational efficiency opportunities exist in low-occupancy periods through targeted promotions and dynamic pricing. Data-driven decision making enables improved forecasting, optimized resource allocation, and higher profitability.</a:t>
            </a:r>
          </a:p>
          <a:p>
            <a:pPr marL="0" indent="0">
              <a:buNone/>
            </a:pPr>
            <a:endParaRPr lang="en-US" sz="9600" dirty="0">
              <a:latin typeface="Times New Roman" panose="02020603050405020304" pitchFamily="18" charset="0"/>
              <a:cs typeface="Times New Roman" panose="02020603050405020304" pitchFamily="18" charset="0"/>
            </a:endParaRPr>
          </a:p>
          <a:p>
            <a:pPr marL="0" indent="0" algn="just">
              <a:buNone/>
            </a:pPr>
            <a:endParaRPr lang="en-US" dirty="0"/>
          </a:p>
          <a:p>
            <a:pPr marL="0" indent="0" algn="just">
              <a:buNone/>
            </a:pPr>
            <a:br>
              <a:rPr lang="en-US" dirty="0">
                <a:solidFill>
                  <a:schemeClr val="tx1"/>
                </a:solidFill>
                <a:latin typeface="Times New Roman" panose="02020603050405020304" pitchFamily="18" charset="0"/>
                <a:cs typeface="Times New Roman" panose="02020603050405020304" pitchFamily="18" charset="0"/>
              </a:rPr>
            </a:br>
            <a:br>
              <a:rPr lang="en-US" dirty="0"/>
            </a:br>
            <a:br>
              <a:rPr lang="en-US" dirty="0"/>
            </a:br>
            <a:endParaRPr lang="en-IN" dirty="0"/>
          </a:p>
        </p:txBody>
      </p:sp>
    </p:spTree>
    <p:extLst>
      <p:ext uri="{BB962C8B-B14F-4D97-AF65-F5344CB8AC3E}">
        <p14:creationId xmlns:p14="http://schemas.microsoft.com/office/powerpoint/2010/main" val="1794940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1F71A-F1F2-33D7-DCEB-073895BBFD4D}"/>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SQL</a:t>
            </a:r>
          </a:p>
        </p:txBody>
      </p:sp>
      <p:sp>
        <p:nvSpPr>
          <p:cNvPr id="3" name="Content Placeholder 2">
            <a:extLst>
              <a:ext uri="{FF2B5EF4-FFF2-40B4-BE49-F238E27FC236}">
                <a16:creationId xmlns:a16="http://schemas.microsoft.com/office/drawing/2014/main" id="{519F350A-CCB9-B9EA-1C91-0007842F5F1B}"/>
              </a:ext>
            </a:extLst>
          </p:cNvPr>
          <p:cNvSpPr>
            <a:spLocks noGrp="1"/>
          </p:cNvSpPr>
          <p:nvPr>
            <p:ph idx="1"/>
          </p:nvPr>
        </p:nvSpPr>
        <p:spPr>
          <a:xfrm>
            <a:off x="677334" y="1740310"/>
            <a:ext cx="8596668" cy="4581831"/>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SQL-based hospitality analysis reveals clear performance patterns across occupancy, revenue, and guest behavior. Peak revenue periods align strongly with high occupancy and premium room categories, while mid-week demand shows untapped capacity that can be improved through targeted pricing and promotions. Customer segmentation highlights repeat guests as a major revenue driver, emphasizing the importance of loyalty programs and personalized offers. Operationally, data indicates that optimized staffing levels and dynamic pricing strategies can significantly enhance profitability without compromising service quality. Overall, leveraging data-driven decision making enables more accurate forecasting, improved resource allocation, and sustainable revenue growth for the hospitality business.</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451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F4302-0205-1C44-EE4E-1A35731729A6}"/>
              </a:ext>
            </a:extLst>
          </p:cNvPr>
          <p:cNvSpPr>
            <a:spLocks noGrp="1"/>
          </p:cNvSpPr>
          <p:nvPr>
            <p:ph idx="1"/>
          </p:nvPr>
        </p:nvSpPr>
        <p:spPr>
          <a:xfrm>
            <a:off x="747252" y="953730"/>
            <a:ext cx="8526750" cy="4129548"/>
          </a:xfrm>
        </p:spPr>
        <p:txBody>
          <a:bodyPr/>
          <a:lstStyle/>
          <a:p>
            <a:pPr marL="0" indent="0">
              <a:buNone/>
            </a:pPr>
            <a:r>
              <a:rPr lang="en-IN" b="1" dirty="0"/>
              <a:t> </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91A224-7CF7-7C5E-22DA-7C4B9B43A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109" y="826828"/>
            <a:ext cx="8888362" cy="4737688"/>
          </a:xfrm>
          <a:prstGeom prst="rect">
            <a:avLst/>
          </a:prstGeom>
        </p:spPr>
      </p:pic>
    </p:spTree>
    <p:extLst>
      <p:ext uri="{BB962C8B-B14F-4D97-AF65-F5344CB8AC3E}">
        <p14:creationId xmlns:p14="http://schemas.microsoft.com/office/powerpoint/2010/main" val="623129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DBFF066-93D8-11F9-9812-B009037824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1110" y="727587"/>
            <a:ext cx="8780206" cy="5033013"/>
          </a:xfrm>
          <a:prstGeom prst="rect">
            <a:avLst/>
          </a:prstGeom>
        </p:spPr>
      </p:pic>
    </p:spTree>
    <p:extLst>
      <p:ext uri="{BB962C8B-B14F-4D97-AF65-F5344CB8AC3E}">
        <p14:creationId xmlns:p14="http://schemas.microsoft.com/office/powerpoint/2010/main" val="3484599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3975E05-8179-005E-041C-21BD1BA0D6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149" y="639097"/>
            <a:ext cx="9567402" cy="5199137"/>
          </a:xfrm>
          <a:prstGeom prst="rect">
            <a:avLst/>
          </a:prstGeom>
        </p:spPr>
      </p:pic>
    </p:spTree>
    <p:extLst>
      <p:ext uri="{BB962C8B-B14F-4D97-AF65-F5344CB8AC3E}">
        <p14:creationId xmlns:p14="http://schemas.microsoft.com/office/powerpoint/2010/main" val="1043823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C29A-0164-F751-9CF7-ACBBC7CEF065}"/>
              </a:ext>
            </a:extLst>
          </p:cNvPr>
          <p:cNvSpPr>
            <a:spLocks noGrp="1"/>
          </p:cNvSpPr>
          <p:nvPr>
            <p:ph type="title"/>
          </p:nvPr>
        </p:nvSpPr>
        <p:spPr>
          <a:xfrm>
            <a:off x="942805" y="521110"/>
            <a:ext cx="8596668" cy="1320800"/>
          </a:xfrm>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172C9A9-6E16-F8C0-EA79-42F6DAA0B651}"/>
              </a:ext>
            </a:extLst>
          </p:cNvPr>
          <p:cNvSpPr>
            <a:spLocks noGrp="1"/>
          </p:cNvSpPr>
          <p:nvPr>
            <p:ph idx="1"/>
          </p:nvPr>
        </p:nvSpPr>
        <p:spPr/>
        <p:txBody>
          <a:bodyPr>
            <a:normAutofit/>
          </a:bodyPr>
          <a:lstStyle/>
          <a:p>
            <a:pPr marL="0" indent="0">
              <a:buNone/>
            </a:pPr>
            <a:r>
              <a:rPr lang="en-US" dirty="0"/>
              <a:t>The hospitality industry continues to show strong growth driven by rising travel demand, digital booking adoption, and experience-focused consumers. Cost management and workforce retention are key challenges affecting profitability and service consistency.</a:t>
            </a:r>
          </a:p>
          <a:p>
            <a:pPr marL="0" indent="0">
              <a:buNone/>
            </a:pPr>
            <a:r>
              <a:rPr lang="en-US" dirty="0"/>
              <a:t>Businesses that combine operational efficiency with exceptional guest experience are best positioned for future growth. Service quality, personalization, and customer satisfaction remain the most critical competitive factors. Sustainability and responsible tourism are becoming essential for brand reputation and long-term success.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218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3A60D2-D8F3-410D-B7A6-8AC845A36EEB}"/>
              </a:ext>
            </a:extLst>
          </p:cNvPr>
          <p:cNvSpPr>
            <a:spLocks noGrp="1"/>
          </p:cNvSpPr>
          <p:nvPr>
            <p:ph idx="1"/>
          </p:nvPr>
        </p:nvSpPr>
        <p:spPr>
          <a:xfrm>
            <a:off x="677334" y="2770632"/>
            <a:ext cx="8596668" cy="3270730"/>
          </a:xfrm>
        </p:spPr>
        <p:txBody>
          <a:bodyPr>
            <a:normAutofit/>
          </a:bodyPr>
          <a:lstStyle/>
          <a:p>
            <a:pPr marL="0" indent="0" algn="ctr">
              <a:buNone/>
            </a:pPr>
            <a:r>
              <a:rPr lang="en-IN" sz="7200" b="1"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1030700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351</TotalTime>
  <Words>680</Words>
  <Application>Microsoft Office PowerPoint</Application>
  <PresentationFormat>Widescreen</PresentationFormat>
  <Paragraphs>43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Times New Roman</vt:lpstr>
      <vt:lpstr>Trebuchet MS</vt:lpstr>
      <vt:lpstr>Wingdings 3</vt:lpstr>
      <vt:lpstr>Facet</vt:lpstr>
      <vt:lpstr>HOSPITALITY ANALYSIS PRESENTATION Tools: Excel, Power Bi, Tableau, SQL</vt:lpstr>
      <vt:lpstr>INTRODUCTION</vt:lpstr>
      <vt:lpstr>DATA PREPARATION</vt:lpstr>
      <vt:lpstr>EXCEL DASHBOARD</vt:lpstr>
      <vt:lpstr>OVERALL ANALYSIS OF EXCEL DASHBOARD</vt:lpstr>
      <vt:lpstr>TABLEAU DASHBOARD</vt:lpstr>
      <vt:lpstr>OVERALL ANALYSIS OF TABLEAU DASHBOARD</vt:lpstr>
      <vt:lpstr>POWER BI DASHBOARD</vt:lpstr>
      <vt:lpstr>OBVERALL ANALYSIS OF POWER BI DASHBOARD</vt:lpstr>
      <vt:lpstr>SQL</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Srehitha</dc:creator>
  <cp:lastModifiedBy>chiduvijay95@outlook.com</cp:lastModifiedBy>
  <cp:revision>2</cp:revision>
  <dcterms:created xsi:type="dcterms:W3CDTF">2026-01-02T13:30:19Z</dcterms:created>
  <dcterms:modified xsi:type="dcterms:W3CDTF">2026-03-06T06:18:18Z</dcterms:modified>
</cp:coreProperties>
</file>